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69" r:id="rId3"/>
    <p:sldId id="257" r:id="rId4"/>
    <p:sldId id="266" r:id="rId5"/>
    <p:sldId id="260" r:id="rId6"/>
    <p:sldId id="259" r:id="rId7"/>
    <p:sldId id="258" r:id="rId8"/>
    <p:sldId id="267" r:id="rId9"/>
    <p:sldId id="263" r:id="rId10"/>
    <p:sldId id="262" r:id="rId11"/>
    <p:sldId id="261" r:id="rId12"/>
    <p:sldId id="268" r:id="rId13"/>
    <p:sldId id="264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51"/>
    <p:restoredTop sz="94674"/>
  </p:normalViewPr>
  <p:slideViewPr>
    <p:cSldViewPr snapToGrid="0">
      <p:cViewPr varScale="1">
        <p:scale>
          <a:sx n="127" d="100"/>
          <a:sy n="127" d="100"/>
        </p:scale>
        <p:origin x="29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122363"/>
            <a:ext cx="58293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3602038"/>
            <a:ext cx="51435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C554-CD46-674A-8404-6A3C3D3DA456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3C615-6D45-4E46-BF10-D92FF6627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542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C554-CD46-674A-8404-6A3C3D3DA456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3C615-6D45-4E46-BF10-D92FF6627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578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709740"/>
            <a:ext cx="5915025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4589465"/>
            <a:ext cx="5915025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C554-CD46-674A-8404-6A3C3D3DA456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3C615-6D45-4E46-BF10-D92FF6627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00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825625"/>
            <a:ext cx="29146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825625"/>
            <a:ext cx="29146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C554-CD46-674A-8404-6A3C3D3DA456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3C615-6D45-4E46-BF10-D92FF6627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160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65126"/>
            <a:ext cx="59150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681163"/>
            <a:ext cx="2901255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2505075"/>
            <a:ext cx="290125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681163"/>
            <a:ext cx="2915543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2505075"/>
            <a:ext cx="291554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C554-CD46-674A-8404-6A3C3D3DA456}" type="datetimeFigureOut">
              <a:rPr lang="en-US" smtClean="0"/>
              <a:t>6/9/26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3C615-6D45-4E46-BF10-D92FF6627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319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C554-CD46-674A-8404-6A3C3D3DA456}" type="datetimeFigureOut">
              <a:rPr lang="en-US" smtClean="0"/>
              <a:t>6/9/26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3C615-6D45-4E46-BF10-D92FF6627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027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C554-CD46-674A-8404-6A3C3D3DA456}" type="datetimeFigureOut">
              <a:rPr lang="en-US" smtClean="0"/>
              <a:t>6/9/26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3C615-6D45-4E46-BF10-D92FF6627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916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987426"/>
            <a:ext cx="3471863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C554-CD46-674A-8404-6A3C3D3DA456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3C615-6D45-4E46-BF10-D92FF6627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445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987426"/>
            <a:ext cx="3471863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C554-CD46-674A-8404-6A3C3D3DA456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3C615-6D45-4E46-BF10-D92FF6627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547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C554-CD46-674A-8404-6A3C3D3DA456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3C615-6D45-4E46-BF10-D92FF6627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523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365125"/>
            <a:ext cx="1478756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365125"/>
            <a:ext cx="435054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C554-CD46-674A-8404-6A3C3D3DA456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3C615-6D45-4E46-BF10-D92FF6627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23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65126"/>
            <a:ext cx="59150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825625"/>
            <a:ext cx="59150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46C554-CD46-674A-8404-6A3C3D3DA456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6356352"/>
            <a:ext cx="2314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83C615-6D45-4E46-BF10-D92FF6627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022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F4480-FF59-8F26-6D4F-7C647CF6C7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70498" y="1950097"/>
            <a:ext cx="9198995" cy="23876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2026 Mw 7.8 </a:t>
            </a:r>
            <a:b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Mindanao (Philippines) </a:t>
            </a:r>
            <a:b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Earthquake Risk Maps</a:t>
            </a:r>
          </a:p>
        </p:txBody>
      </p:sp>
    </p:spTree>
    <p:extLst>
      <p:ext uri="{BB962C8B-B14F-4D97-AF65-F5344CB8AC3E}">
        <p14:creationId xmlns:p14="http://schemas.microsoft.com/office/powerpoint/2010/main" val="40815554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4FB39-C179-F87B-9D3D-7185E484D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C3FE9AA-7C8B-725C-239C-8625095F5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28" y="1483469"/>
            <a:ext cx="6461943" cy="38910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64FC0F2-E78C-C768-59A3-FF57506FECB9}"/>
              </a:ext>
            </a:extLst>
          </p:cNvPr>
          <p:cNvSpPr txBox="1"/>
          <p:nvPr/>
        </p:nvSpPr>
        <p:spPr>
          <a:xfrm>
            <a:off x="1715756" y="3246846"/>
            <a:ext cx="3431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1184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the world&#10;&#10;AI-generated content may be incorrect.">
            <a:extLst>
              <a:ext uri="{FF2B5EF4-FFF2-40B4-BE49-F238E27FC236}">
                <a16:creationId xmlns:a16="http://schemas.microsoft.com/office/drawing/2014/main" id="{5A3E74CD-34AA-DB37-195A-331EFA4A2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6" y="0"/>
            <a:ext cx="6727288" cy="6858000"/>
          </a:xfrm>
          <a:prstGeom prst="rect">
            <a:avLst/>
          </a:prstGeom>
        </p:spPr>
      </p:pic>
      <p:pic>
        <p:nvPicPr>
          <p:cNvPr id="5" name="Picture 4" descr="A yellow and blue gradient&#10;&#10;AI-generated content may be incorrect.">
            <a:extLst>
              <a:ext uri="{FF2B5EF4-FFF2-40B4-BE49-F238E27FC236}">
                <a16:creationId xmlns:a16="http://schemas.microsoft.com/office/drawing/2014/main" id="{0207C8AD-F912-79EB-D8A5-BE5A9AF21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14" y="4898571"/>
            <a:ext cx="550714" cy="1807029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65FB2685-9352-6256-E741-CED6EF452069}"/>
              </a:ext>
            </a:extLst>
          </p:cNvPr>
          <p:cNvSpPr txBox="1">
            <a:spLocks/>
          </p:cNvSpPr>
          <p:nvPr/>
        </p:nvSpPr>
        <p:spPr>
          <a:xfrm>
            <a:off x="1213564" y="254683"/>
            <a:ext cx="2215437" cy="447447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USGS Earthquake</a:t>
            </a:r>
            <a:b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Intensity Map (MMI)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3408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A3260-99CE-23F8-1373-5967D84B6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5F114-9D84-0E0C-3AF4-A383FD2020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1663362"/>
            <a:ext cx="5829300" cy="353127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latin typeface="Segoe UI" panose="020B0502040204020203" pitchFamily="34" charset="0"/>
                <a:cs typeface="Segoe UI" panose="020B0502040204020203" pitchFamily="34" charset="0"/>
              </a:rPr>
              <a:t>Average Severe</a:t>
            </a:r>
            <a:br>
              <a:rPr lang="en-US" sz="40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4000" b="1" dirty="0">
                <a:latin typeface="Segoe UI" panose="020B0502040204020203" pitchFamily="34" charset="0"/>
                <a:cs typeface="Segoe UI" panose="020B0502040204020203" pitchFamily="34" charset="0"/>
              </a:rPr>
              <a:t>(Extensive + Complete) Damage Probability</a:t>
            </a:r>
            <a:endParaRPr lang="en-US" sz="4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1009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F1C3D6F4-CDB8-38E0-A41A-FD2137C59F67}"/>
              </a:ext>
            </a:extLst>
          </p:cNvPr>
          <p:cNvGrpSpPr/>
          <p:nvPr/>
        </p:nvGrpSpPr>
        <p:grpSpPr>
          <a:xfrm>
            <a:off x="65356" y="0"/>
            <a:ext cx="6727288" cy="6858000"/>
            <a:chOff x="65356" y="0"/>
            <a:chExt cx="6727288" cy="6858000"/>
          </a:xfrm>
        </p:grpSpPr>
        <p:pic>
          <p:nvPicPr>
            <p:cNvPr id="3" name="Picture 2" descr="A map of different countries/regions&#10;&#10;AI-generated content may be incorrect.">
              <a:extLst>
                <a:ext uri="{FF2B5EF4-FFF2-40B4-BE49-F238E27FC236}">
                  <a16:creationId xmlns:a16="http://schemas.microsoft.com/office/drawing/2014/main" id="{FF752881-AC71-A166-C31A-53DA08DFF0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356" y="0"/>
              <a:ext cx="6727288" cy="6858000"/>
            </a:xfrm>
            <a:prstGeom prst="rect">
              <a:avLst/>
            </a:prstGeom>
          </p:spPr>
        </p:pic>
        <p:pic>
          <p:nvPicPr>
            <p:cNvPr id="4" name="Picture 3" descr="A diagram of a number of red squares&#10;&#10;AI-generated content may be incorrect.">
              <a:extLst>
                <a:ext uri="{FF2B5EF4-FFF2-40B4-BE49-F238E27FC236}">
                  <a16:creationId xmlns:a16="http://schemas.microsoft.com/office/drawing/2014/main" id="{03CCD149-6C13-11B3-F715-3E11D436EF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3199" y="5078187"/>
              <a:ext cx="678543" cy="1580861"/>
            </a:xfrm>
            <a:prstGeom prst="rect">
              <a:avLst/>
            </a:prstGeom>
          </p:spPr>
        </p:pic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3167E8DA-B1D8-0C5B-FFA8-B4E22683C392}"/>
                </a:ext>
              </a:extLst>
            </p:cNvPr>
            <p:cNvSpPr txBox="1">
              <a:spLocks/>
            </p:cNvSpPr>
            <p:nvPr/>
          </p:nvSpPr>
          <p:spPr>
            <a:xfrm>
              <a:off x="914400" y="166298"/>
              <a:ext cx="2607323" cy="731775"/>
            </a:xfrm>
            <a:prstGeom prst="rect">
              <a:avLst/>
            </a:prstGeom>
          </p:spPr>
          <p:txBody>
            <a:bodyPr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Average Severe</a:t>
              </a:r>
              <a:br>
                <a:rPr lang="en-US" sz="1600" b="1" dirty="0"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en-US" sz="16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(Extensive + Complete) Damage Probability</a:t>
              </a:r>
              <a:endParaRPr lang="en-US" sz="16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72088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2E963-F07C-CEF5-E507-E79B3FB6B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7CC20C5-8698-E199-7955-E172C7B60739}"/>
              </a:ext>
            </a:extLst>
          </p:cNvPr>
          <p:cNvGrpSpPr/>
          <p:nvPr/>
        </p:nvGrpSpPr>
        <p:grpSpPr>
          <a:xfrm>
            <a:off x="65356" y="0"/>
            <a:ext cx="6727288" cy="6858000"/>
            <a:chOff x="0" y="0"/>
            <a:chExt cx="6727288" cy="6858000"/>
          </a:xfrm>
        </p:grpSpPr>
        <p:pic>
          <p:nvPicPr>
            <p:cNvPr id="3" name="Picture 2" descr="A map of the world&#10;&#10;AI-generated content may be incorrect.">
              <a:extLst>
                <a:ext uri="{FF2B5EF4-FFF2-40B4-BE49-F238E27FC236}">
                  <a16:creationId xmlns:a16="http://schemas.microsoft.com/office/drawing/2014/main" id="{3F3D427A-FA98-8824-BFD9-214933AC50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6727288" cy="6858000"/>
            </a:xfrm>
            <a:prstGeom prst="rect">
              <a:avLst/>
            </a:prstGeom>
          </p:spPr>
        </p:pic>
        <p:pic>
          <p:nvPicPr>
            <p:cNvPr id="4" name="Picture 3" descr="A diagram of a number of red squares&#10;&#10;AI-generated content may be incorrect.">
              <a:extLst>
                <a:ext uri="{FF2B5EF4-FFF2-40B4-BE49-F238E27FC236}">
                  <a16:creationId xmlns:a16="http://schemas.microsoft.com/office/drawing/2014/main" id="{A914C684-0A6D-28B9-F079-C2C0389A6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7843" y="5078187"/>
              <a:ext cx="678543" cy="1580861"/>
            </a:xfrm>
            <a:prstGeom prst="rect">
              <a:avLst/>
            </a:prstGeom>
          </p:spPr>
        </p:pic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F84D0C04-D24D-754B-6C8B-3D9FE3F1253B}"/>
                </a:ext>
              </a:extLst>
            </p:cNvPr>
            <p:cNvSpPr txBox="1">
              <a:spLocks/>
            </p:cNvSpPr>
            <p:nvPr/>
          </p:nvSpPr>
          <p:spPr>
            <a:xfrm>
              <a:off x="849044" y="166298"/>
              <a:ext cx="2607323" cy="731775"/>
            </a:xfrm>
            <a:prstGeom prst="rect">
              <a:avLst/>
            </a:prstGeom>
          </p:spPr>
          <p:txBody>
            <a:bodyPr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Average Severe</a:t>
              </a:r>
              <a:br>
                <a:rPr lang="en-US" sz="1600" b="1" dirty="0"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en-US" sz="16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(Extensive + Complete) Damage Probability</a:t>
              </a:r>
              <a:endParaRPr lang="en-US" sz="16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07735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877AA-7670-DFF0-25BA-E992B0AC0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E44D02D-1EA6-892A-099A-6F41C6A5DB3C}"/>
              </a:ext>
            </a:extLst>
          </p:cNvPr>
          <p:cNvGrpSpPr/>
          <p:nvPr/>
        </p:nvGrpSpPr>
        <p:grpSpPr>
          <a:xfrm>
            <a:off x="65356" y="0"/>
            <a:ext cx="6727288" cy="6858000"/>
            <a:chOff x="-2665412" y="0"/>
            <a:chExt cx="6727288" cy="6858000"/>
          </a:xfrm>
        </p:grpSpPr>
        <p:pic>
          <p:nvPicPr>
            <p:cNvPr id="3" name="Picture 2" descr="A map of the world&#10;&#10;AI-generated content may be incorrect.">
              <a:extLst>
                <a:ext uri="{FF2B5EF4-FFF2-40B4-BE49-F238E27FC236}">
                  <a16:creationId xmlns:a16="http://schemas.microsoft.com/office/drawing/2014/main" id="{5E2252CB-7B7F-D4DB-CBA4-FDC4703C5B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665412" y="0"/>
              <a:ext cx="6727288" cy="6858000"/>
            </a:xfrm>
            <a:prstGeom prst="rect">
              <a:avLst/>
            </a:prstGeom>
          </p:spPr>
        </p:pic>
        <p:pic>
          <p:nvPicPr>
            <p:cNvPr id="5" name="Picture 4" descr="A diagram of a number of red squares&#10;&#10;AI-generated content may be incorrect.">
              <a:extLst>
                <a:ext uri="{FF2B5EF4-FFF2-40B4-BE49-F238E27FC236}">
                  <a16:creationId xmlns:a16="http://schemas.microsoft.com/office/drawing/2014/main" id="{2A73A3DA-7106-7E3B-D41E-1D624D10D6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527569" y="5078187"/>
              <a:ext cx="678543" cy="1580861"/>
            </a:xfrm>
            <a:prstGeom prst="rect">
              <a:avLst/>
            </a:prstGeom>
          </p:spPr>
        </p:pic>
        <p:sp>
          <p:nvSpPr>
            <p:cNvPr id="6" name="Subtitle 2">
              <a:extLst>
                <a:ext uri="{FF2B5EF4-FFF2-40B4-BE49-F238E27FC236}">
                  <a16:creationId xmlns:a16="http://schemas.microsoft.com/office/drawing/2014/main" id="{84FD73D5-A9E5-F8F3-55E2-39329E62F1C6}"/>
                </a:ext>
              </a:extLst>
            </p:cNvPr>
            <p:cNvSpPr txBox="1">
              <a:spLocks/>
            </p:cNvSpPr>
            <p:nvPr/>
          </p:nvSpPr>
          <p:spPr>
            <a:xfrm>
              <a:off x="-1816368" y="166298"/>
              <a:ext cx="2607323" cy="731775"/>
            </a:xfrm>
            <a:prstGeom prst="rect">
              <a:avLst/>
            </a:prstGeom>
          </p:spPr>
          <p:txBody>
            <a:bodyPr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Average Severe</a:t>
              </a:r>
              <a:br>
                <a:rPr lang="en-US" sz="1600" b="1" dirty="0"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en-US" sz="16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(Extensive + Complete) Damage Probability</a:t>
              </a:r>
              <a:endParaRPr lang="en-US" sz="16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32144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427D2-0134-5210-6D87-07513B00E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9D05D-9137-6711-0A77-54C83740BF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1663362"/>
            <a:ext cx="5829300" cy="353127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latin typeface="Segoe UI" panose="020B0502040204020203" pitchFamily="34" charset="0"/>
                <a:cs typeface="Segoe UI" panose="020B0502040204020203" pitchFamily="34" charset="0"/>
              </a:rPr>
              <a:t>Average Collapse</a:t>
            </a:r>
            <a:br>
              <a:rPr lang="en-US" sz="40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4000" b="1" dirty="0">
                <a:latin typeface="Segoe UI" panose="020B0502040204020203" pitchFamily="34" charset="0"/>
                <a:cs typeface="Segoe UI" panose="020B0502040204020203" pitchFamily="34" charset="0"/>
              </a:rPr>
              <a:t>Damage Probability</a:t>
            </a:r>
            <a:endParaRPr lang="en-US" sz="4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7961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CF8A6-AC97-9925-ACAF-5407AB132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0264B8B-F79B-9B6C-B111-8D092A6F3FDA}"/>
              </a:ext>
            </a:extLst>
          </p:cNvPr>
          <p:cNvGrpSpPr/>
          <p:nvPr/>
        </p:nvGrpSpPr>
        <p:grpSpPr>
          <a:xfrm>
            <a:off x="65356" y="0"/>
            <a:ext cx="6727288" cy="6858000"/>
            <a:chOff x="-2665412" y="0"/>
            <a:chExt cx="6727288" cy="6858000"/>
          </a:xfrm>
        </p:grpSpPr>
        <p:pic>
          <p:nvPicPr>
            <p:cNvPr id="3" name="Picture 2" descr="A map of the united states&#10;&#10;AI-generated content may be incorrect.">
              <a:extLst>
                <a:ext uri="{FF2B5EF4-FFF2-40B4-BE49-F238E27FC236}">
                  <a16:creationId xmlns:a16="http://schemas.microsoft.com/office/drawing/2014/main" id="{C3CC2C78-EB82-0F6C-B604-228E1470CD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665412" y="0"/>
              <a:ext cx="6727288" cy="6858000"/>
            </a:xfrm>
            <a:prstGeom prst="rect">
              <a:avLst/>
            </a:prstGeom>
          </p:spPr>
        </p:pic>
        <p:sp>
          <p:nvSpPr>
            <p:cNvPr id="4" name="Subtitle 2">
              <a:extLst>
                <a:ext uri="{FF2B5EF4-FFF2-40B4-BE49-F238E27FC236}">
                  <a16:creationId xmlns:a16="http://schemas.microsoft.com/office/drawing/2014/main" id="{BACC2AF2-0238-7797-D246-AD4A9622706D}"/>
                </a:ext>
              </a:extLst>
            </p:cNvPr>
            <p:cNvSpPr txBox="1">
              <a:spLocks/>
            </p:cNvSpPr>
            <p:nvPr/>
          </p:nvSpPr>
          <p:spPr>
            <a:xfrm>
              <a:off x="-1816368" y="166298"/>
              <a:ext cx="2607323" cy="731775"/>
            </a:xfrm>
            <a:prstGeom prst="rect">
              <a:avLst/>
            </a:prstGeom>
          </p:spPr>
          <p:txBody>
            <a:bodyPr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Average</a:t>
              </a:r>
              <a:br>
                <a:rPr lang="en-US" sz="1600" b="1" dirty="0"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en-US" sz="16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Collapse Damage Probability</a:t>
              </a:r>
              <a:endParaRPr lang="en-US" sz="16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5" name="Picture 4" descr="A chart of percentages&#10;&#10;AI-generated content may be incorrect.">
              <a:extLst>
                <a:ext uri="{FF2B5EF4-FFF2-40B4-BE49-F238E27FC236}">
                  <a16:creationId xmlns:a16="http://schemas.microsoft.com/office/drawing/2014/main" id="{C2766D37-1A00-E523-F899-15C4163940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495818" y="5067112"/>
              <a:ext cx="793751" cy="16245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8444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F07DE-16BF-4E86-592A-6148F1A5A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8C14C98-451E-6E79-F1A1-3766551EB745}"/>
              </a:ext>
            </a:extLst>
          </p:cNvPr>
          <p:cNvGrpSpPr/>
          <p:nvPr/>
        </p:nvGrpSpPr>
        <p:grpSpPr>
          <a:xfrm>
            <a:off x="65356" y="0"/>
            <a:ext cx="6727288" cy="6858000"/>
            <a:chOff x="-2665412" y="0"/>
            <a:chExt cx="6727288" cy="6858000"/>
          </a:xfrm>
        </p:grpSpPr>
        <p:pic>
          <p:nvPicPr>
            <p:cNvPr id="3" name="Picture 2" descr="A map of the world&#10;&#10;AI-generated content may be incorrect.">
              <a:extLst>
                <a:ext uri="{FF2B5EF4-FFF2-40B4-BE49-F238E27FC236}">
                  <a16:creationId xmlns:a16="http://schemas.microsoft.com/office/drawing/2014/main" id="{32CEA25D-2D45-E8B9-1311-C4597D18B8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665412" y="0"/>
              <a:ext cx="6727288" cy="6858000"/>
            </a:xfrm>
            <a:prstGeom prst="rect">
              <a:avLst/>
            </a:prstGeom>
          </p:spPr>
        </p:pic>
        <p:sp>
          <p:nvSpPr>
            <p:cNvPr id="4" name="Subtitle 2">
              <a:extLst>
                <a:ext uri="{FF2B5EF4-FFF2-40B4-BE49-F238E27FC236}">
                  <a16:creationId xmlns:a16="http://schemas.microsoft.com/office/drawing/2014/main" id="{A2F11205-3B8D-956C-9D2A-6B6953215FB0}"/>
                </a:ext>
              </a:extLst>
            </p:cNvPr>
            <p:cNvSpPr txBox="1">
              <a:spLocks/>
            </p:cNvSpPr>
            <p:nvPr/>
          </p:nvSpPr>
          <p:spPr>
            <a:xfrm>
              <a:off x="-1816368" y="166298"/>
              <a:ext cx="2607323" cy="731775"/>
            </a:xfrm>
            <a:prstGeom prst="rect">
              <a:avLst/>
            </a:prstGeom>
          </p:spPr>
          <p:txBody>
            <a:bodyPr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Average</a:t>
              </a:r>
              <a:br>
                <a:rPr lang="en-US" sz="1600" b="1" dirty="0"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en-US" sz="16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Collapse Damage Probability</a:t>
              </a:r>
              <a:endParaRPr lang="en-US" sz="16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5" name="Picture 4" descr="A chart of percentages&#10;&#10;AI-generated content may be incorrect.">
              <a:extLst>
                <a:ext uri="{FF2B5EF4-FFF2-40B4-BE49-F238E27FC236}">
                  <a16:creationId xmlns:a16="http://schemas.microsoft.com/office/drawing/2014/main" id="{788BC08A-0860-9A42-CC47-4B9F9541D7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495818" y="5067112"/>
              <a:ext cx="793751" cy="16245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905197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8ABD7-E67F-57C2-AD23-84E3A7E11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336C2-EB7D-C631-2393-A3F027AF0109}"/>
              </a:ext>
            </a:extLst>
          </p:cNvPr>
          <p:cNvGrpSpPr/>
          <p:nvPr/>
        </p:nvGrpSpPr>
        <p:grpSpPr>
          <a:xfrm>
            <a:off x="65356" y="0"/>
            <a:ext cx="6727288" cy="6858000"/>
            <a:chOff x="-2665412" y="0"/>
            <a:chExt cx="6727288" cy="6858000"/>
          </a:xfrm>
        </p:grpSpPr>
        <p:pic>
          <p:nvPicPr>
            <p:cNvPr id="3" name="Picture 2" descr="A map of the world&#10;&#10;AI-generated content may be incorrect.">
              <a:extLst>
                <a:ext uri="{FF2B5EF4-FFF2-40B4-BE49-F238E27FC236}">
                  <a16:creationId xmlns:a16="http://schemas.microsoft.com/office/drawing/2014/main" id="{F48D91F3-6AF5-9F8E-48CC-B78B2E5FCA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665412" y="0"/>
              <a:ext cx="6727288" cy="6858000"/>
            </a:xfrm>
            <a:prstGeom prst="rect">
              <a:avLst/>
            </a:prstGeom>
          </p:spPr>
        </p:pic>
        <p:sp>
          <p:nvSpPr>
            <p:cNvPr id="4" name="Subtitle 2">
              <a:extLst>
                <a:ext uri="{FF2B5EF4-FFF2-40B4-BE49-F238E27FC236}">
                  <a16:creationId xmlns:a16="http://schemas.microsoft.com/office/drawing/2014/main" id="{2E090C67-E9DE-1883-B982-DA6B99FC9022}"/>
                </a:ext>
              </a:extLst>
            </p:cNvPr>
            <p:cNvSpPr txBox="1">
              <a:spLocks/>
            </p:cNvSpPr>
            <p:nvPr/>
          </p:nvSpPr>
          <p:spPr>
            <a:xfrm>
              <a:off x="-1816368" y="166298"/>
              <a:ext cx="2607323" cy="731775"/>
            </a:xfrm>
            <a:prstGeom prst="rect">
              <a:avLst/>
            </a:prstGeom>
          </p:spPr>
          <p:txBody>
            <a:bodyPr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Average</a:t>
              </a:r>
              <a:br>
                <a:rPr lang="en-US" sz="1600" b="1" dirty="0"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en-US" sz="16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Collapse Damage Probability</a:t>
              </a:r>
              <a:endParaRPr lang="en-US" sz="16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 descr="A chart of percentages&#10;&#10;AI-generated content may be incorrect.">
              <a:extLst>
                <a:ext uri="{FF2B5EF4-FFF2-40B4-BE49-F238E27FC236}">
                  <a16:creationId xmlns:a16="http://schemas.microsoft.com/office/drawing/2014/main" id="{1538A112-8856-D7BA-9F91-3CE1BB2AB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495818" y="5067112"/>
              <a:ext cx="793751" cy="16245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793936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88EE7-5923-690E-637C-46070AD38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8A2D7-80AE-D3B7-038E-B491102F30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1663362"/>
            <a:ext cx="5829300" cy="353127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latin typeface="Segoe UI" panose="020B0502040204020203" pitchFamily="34" charset="0"/>
                <a:cs typeface="Segoe UI" panose="020B0502040204020203" pitchFamily="34" charset="0"/>
              </a:rPr>
              <a:t>High-Risk Building Concentration</a:t>
            </a:r>
            <a:br>
              <a:rPr lang="en-US" sz="40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4000" b="1" dirty="0">
                <a:latin typeface="Segoe UI" panose="020B0502040204020203" pitchFamily="34" charset="0"/>
                <a:cs typeface="Segoe UI" panose="020B0502040204020203" pitchFamily="34" charset="0"/>
              </a:rPr>
              <a:t>(Top 10%)</a:t>
            </a:r>
            <a:endParaRPr lang="en-US" sz="4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5450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28136-111C-E892-4DF3-68920337F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6B8970B-168B-7849-A7CB-3CCE81A51FD4}"/>
              </a:ext>
            </a:extLst>
          </p:cNvPr>
          <p:cNvGrpSpPr/>
          <p:nvPr/>
        </p:nvGrpSpPr>
        <p:grpSpPr>
          <a:xfrm>
            <a:off x="65356" y="0"/>
            <a:ext cx="6727288" cy="6858000"/>
            <a:chOff x="-2665412" y="0"/>
            <a:chExt cx="6727288" cy="6858000"/>
          </a:xfrm>
        </p:grpSpPr>
        <p:pic>
          <p:nvPicPr>
            <p:cNvPr id="3" name="Picture 2" descr="A map of the world&#10;&#10;AI-generated content may be incorrect.">
              <a:extLst>
                <a:ext uri="{FF2B5EF4-FFF2-40B4-BE49-F238E27FC236}">
                  <a16:creationId xmlns:a16="http://schemas.microsoft.com/office/drawing/2014/main" id="{20915396-E869-31CF-AD3E-6C456A280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665412" y="0"/>
              <a:ext cx="6727288" cy="6858000"/>
            </a:xfrm>
            <a:prstGeom prst="rect">
              <a:avLst/>
            </a:prstGeom>
          </p:spPr>
        </p:pic>
        <p:sp>
          <p:nvSpPr>
            <p:cNvPr id="4" name="Subtitle 2">
              <a:extLst>
                <a:ext uri="{FF2B5EF4-FFF2-40B4-BE49-F238E27FC236}">
                  <a16:creationId xmlns:a16="http://schemas.microsoft.com/office/drawing/2014/main" id="{B3CE2403-E6DB-6A67-5ADD-24AC6C298D59}"/>
                </a:ext>
              </a:extLst>
            </p:cNvPr>
            <p:cNvSpPr txBox="1">
              <a:spLocks/>
            </p:cNvSpPr>
            <p:nvPr/>
          </p:nvSpPr>
          <p:spPr>
            <a:xfrm>
              <a:off x="-1816368" y="166298"/>
              <a:ext cx="2607323" cy="731775"/>
            </a:xfrm>
            <a:prstGeom prst="rect">
              <a:avLst/>
            </a:prstGeom>
          </p:spPr>
          <p:txBody>
            <a:bodyPr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High-Risk Building Concentration</a:t>
              </a:r>
              <a:br>
                <a:rPr lang="en-US" sz="1600" b="1" dirty="0"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en-US" sz="16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(Top 10%)</a:t>
              </a:r>
              <a:endParaRPr lang="en-US" sz="16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 descr="A chart of different shades of skin color&#10;&#10;AI-generated content may be incorrect.">
              <a:extLst>
                <a:ext uri="{FF2B5EF4-FFF2-40B4-BE49-F238E27FC236}">
                  <a16:creationId xmlns:a16="http://schemas.microsoft.com/office/drawing/2014/main" id="{9E652399-D065-A135-4179-A10A090E10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495818" y="5147170"/>
              <a:ext cx="908051" cy="15445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90273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330</TotalTime>
  <Words>96</Words>
  <Application>Microsoft Macintosh PowerPoint</Application>
  <PresentationFormat>Custom</PresentationFormat>
  <Paragraphs>12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Segoe UI</vt:lpstr>
      <vt:lpstr>Office Theme</vt:lpstr>
      <vt:lpstr>2026 Mw 7.8  Mindanao (Philippines)  Earthquake Risk Maps</vt:lpstr>
      <vt:lpstr>PowerPoint Presentation</vt:lpstr>
      <vt:lpstr>PowerPoint Presentation</vt:lpstr>
      <vt:lpstr>Average Severe (Extensive + Complete) Damage Probability</vt:lpstr>
      <vt:lpstr>PowerPoint Presentation</vt:lpstr>
      <vt:lpstr>PowerPoint Presentation</vt:lpstr>
      <vt:lpstr>PowerPoint Presentation</vt:lpstr>
      <vt:lpstr>Average Collapse Damage Probability</vt:lpstr>
      <vt:lpstr>PowerPoint Presentation</vt:lpstr>
      <vt:lpstr>PowerPoint Presentation</vt:lpstr>
      <vt:lpstr>PowerPoint Presentation</vt:lpstr>
      <vt:lpstr>High-Risk Building Concentration (Top 10%)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Dimasaka</dc:creator>
  <cp:lastModifiedBy>Joshua Dimasaka</cp:lastModifiedBy>
  <cp:revision>5</cp:revision>
  <dcterms:created xsi:type="dcterms:W3CDTF">2026-06-09T08:58:10Z</dcterms:created>
  <dcterms:modified xsi:type="dcterms:W3CDTF">2026-06-09T16:04:06Z</dcterms:modified>
</cp:coreProperties>
</file>